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2b135f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2b135f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cfae0289a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cfae0289a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fae028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fae028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fae0289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cfae0289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cfae0289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cfae0289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fae028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cfae028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cfae0289a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cfae0289a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cfae0289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cfae0289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cfae0289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cfae0289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fae0289a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cfae0289a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fae0289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cfae0289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cfae0289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cfae0289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cfae0289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cfae0289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cfae0289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cfae0289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cfae0289a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cfae0289a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cfae0289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cfae0289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cfae0289a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cfae0289a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cfae0289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cfae0289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cfae0289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cfae0289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fae0289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fae0289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cfae0289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cfae0289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cfae0289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cfae0289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cfae0289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cfae0289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cfae0289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cfae0289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cfae0289a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cfae0289a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cfae0289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cfae0289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cfae0289a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cfae0289a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cfae0289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cfae0289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cfae0289a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cfae0289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cfae0289a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cfae0289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cfae0289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cfae0289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cfae0289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cfae0289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cfae0289a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cfae0289a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cfae0289a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dcfae0289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cfae0289a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cfae0289a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cfae0289a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cfae0289a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cfae0289a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dcfae0289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cfae0289a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cfae0289a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cfae0289a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dcfae0289a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cfae0289a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dcfae0289a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cfae0289a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dcfae0289a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cfae0289a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dcfae0289a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cfae0289a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dcfae0289a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cfae0289a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cfae0289a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cfae0289a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dcfae0289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cfae0289a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dcfae0289a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cfae0289a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dcfae0289a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cfae0289a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dcfae0289a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cfae0289a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dcfae0289a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cfae0289a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cfae0289a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cfae0289a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dcfae0289a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cfae0289a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cfae0289a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cfae0289a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dcfae0289a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cfae0289a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dcfae0289a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cfae0289a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cfae0289a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cfae0289a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dcfae0289a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cfae0289a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dcfae0289a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cfae0289a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dcfae0289a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cfae0289a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dcfae0289a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cfae0289a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dcfae0289a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Relationship Id="rId4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5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Relationship Id="rId4" Type="http://schemas.openxmlformats.org/officeDocument/2006/relationships/image" Target="../media/image5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Unreal Engine講義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r>
              <a:rPr lang="ja"/>
              <a:t>制御の基礎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構成</a:t>
            </a:r>
            <a:endParaRPr b="1"/>
          </a:p>
        </p:txBody>
      </p:sp>
      <p:sp>
        <p:nvSpPr>
          <p:cNvPr id="61" name="Google Shape;61;p14"/>
          <p:cNvSpPr txBox="1"/>
          <p:nvPr/>
        </p:nvSpPr>
        <p:spPr>
          <a:xfrm>
            <a:off x="1058700" y="818250"/>
            <a:ext cx="7026600" cy="35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・AI</a:t>
            </a:r>
            <a:r>
              <a:rPr b="1" lang="ja" sz="2900">
                <a:solidFill>
                  <a:schemeClr val="dk2"/>
                </a:solidFill>
              </a:rPr>
              <a:t>コントローラーについて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・AIController作成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・プレイヤーを追いかける機能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・巡回ルート探索の実装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・応用編</a:t>
            </a:r>
            <a:endParaRPr b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AIControllerについて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コントローラーの復習</a:t>
            </a:r>
            <a:endParaRPr b="1"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250" y="572700"/>
            <a:ext cx="6675499" cy="42659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1289501" y="690125"/>
            <a:ext cx="1155300" cy="225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2228550" y="3805600"/>
            <a:ext cx="4686900" cy="62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BP_MyCharacterはCharacterクラスを親とするBP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そもそもの基本的なBPクラス</a:t>
            </a:r>
            <a:endParaRPr b="1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00" y="571500"/>
            <a:ext cx="73437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/>
          <p:nvPr/>
        </p:nvSpPr>
        <p:spPr>
          <a:xfrm>
            <a:off x="1067699" y="1366500"/>
            <a:ext cx="2403300" cy="1269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1054050" y="2837800"/>
            <a:ext cx="7035900" cy="154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「アクタ」→「ポーン」→「キャラクター」と継承されている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アクタはUEでゲームに登場するあらゆるオブジェクトの基本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そもそもの基本的なBPクラス</a:t>
            </a:r>
            <a:endParaRPr b="1"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00" y="571500"/>
            <a:ext cx="73437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/>
          <p:nvPr/>
        </p:nvSpPr>
        <p:spPr>
          <a:xfrm>
            <a:off x="1054050" y="2693150"/>
            <a:ext cx="2403300" cy="312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1054050" y="1022850"/>
            <a:ext cx="7035900" cy="154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コントローラークラス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ポーンを制御するためのクラス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プレイヤーはコントローラークラスを介して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キャラクターを操作している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コントローラーの復習</a:t>
            </a:r>
            <a:endParaRPr b="1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63" y="572700"/>
            <a:ext cx="8058876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/>
          <p:nvPr/>
        </p:nvSpPr>
        <p:spPr>
          <a:xfrm>
            <a:off x="3917275" y="572700"/>
            <a:ext cx="2042400" cy="290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963950" y="3165250"/>
            <a:ext cx="5649900" cy="290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963950" y="3705175"/>
            <a:ext cx="5649900" cy="290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1943850" y="3995875"/>
            <a:ext cx="5256300" cy="62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プレイヤーポーンとコントローラーはここで紐づけている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AIControllerについて</a:t>
            </a:r>
            <a:endParaRPr b="1"/>
          </a:p>
        </p:txBody>
      </p:sp>
      <p:sp>
        <p:nvSpPr>
          <p:cNvPr id="106" name="Google Shape;106;p20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・プレイヤーのポーン＝プレイヤーがコントローラーで操作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・敵ポーン、モブのポーン＝AIControllerで操作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ゲーム上、自動で動くポーンはAIControllerで制御しています。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AIControllerについて</a:t>
            </a:r>
            <a:endParaRPr b="1"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663" y="659238"/>
            <a:ext cx="30670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6863" y="1173638"/>
            <a:ext cx="41814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2025313" y="3409963"/>
            <a:ext cx="5093400" cy="10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Characterクラスでは、AIControllerが設定可能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＝ゲーム上に配置するとAIControllerクラス制御となる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318588" y="2316613"/>
            <a:ext cx="2706300" cy="290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AIController作成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AI制御関連のクラス</a:t>
            </a:r>
            <a:endParaRPr b="1"/>
          </a:p>
        </p:txBody>
      </p:sp>
      <p:sp>
        <p:nvSpPr>
          <p:cNvPr id="126" name="Google Shape;126;p23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これから出てくるUEのAI関連系のクラス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・AIController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　└ポーンを制御するコントローラー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・BehaviorTree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　└行動制御のツリー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・BlackBoard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　└ビヘイビアツリー用の記憶領域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新規のビヘイビアツリー・ブラックボード作成</a:t>
            </a:r>
            <a:endParaRPr b="1"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700" y="976300"/>
            <a:ext cx="68865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/>
          <p:nvPr/>
        </p:nvSpPr>
        <p:spPr>
          <a:xfrm>
            <a:off x="2190050" y="1790775"/>
            <a:ext cx="389400" cy="171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5920075" y="2400750"/>
            <a:ext cx="1802700" cy="942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 txBox="1"/>
          <p:nvPr/>
        </p:nvSpPr>
        <p:spPr>
          <a:xfrm>
            <a:off x="2451738" y="3785950"/>
            <a:ext cx="42405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ビヘイビアツリー「BT_MyCharacter」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ブラックボード「BB_MyCharacter」とする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新規のビヘイビアツリー・ブラックボード作成</a:t>
            </a:r>
            <a:endParaRPr b="1"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2700"/>
            <a:ext cx="8839202" cy="405780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/>
          <p:nvPr/>
        </p:nvSpPr>
        <p:spPr>
          <a:xfrm>
            <a:off x="5256750" y="2313750"/>
            <a:ext cx="3662400" cy="57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/>
        </p:nvSpPr>
        <p:spPr>
          <a:xfrm>
            <a:off x="5256750" y="3220500"/>
            <a:ext cx="3055200" cy="7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ビヘイビアツリーに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対応するブラックボードを設定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776725" y="628425"/>
            <a:ext cx="1824300" cy="256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新規のAIController作成</a:t>
            </a:r>
            <a:endParaRPr b="1"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1750" y="572700"/>
            <a:ext cx="5240500" cy="426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/>
          <p:nvPr/>
        </p:nvSpPr>
        <p:spPr>
          <a:xfrm>
            <a:off x="2233550" y="4476700"/>
            <a:ext cx="1020000" cy="171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/>
        </p:nvSpPr>
        <p:spPr>
          <a:xfrm>
            <a:off x="4863450" y="3851200"/>
            <a:ext cx="3055200" cy="7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新規のAIControllerを選択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「BP_MyAiController」とする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AIControllerにBTとBBを紐づける</a:t>
            </a:r>
            <a:endParaRPr b="1"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6650"/>
            <a:ext cx="8839198" cy="277017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/>
          <p:nvPr/>
        </p:nvSpPr>
        <p:spPr>
          <a:xfrm>
            <a:off x="2418400" y="2943450"/>
            <a:ext cx="1367700" cy="377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6507275" y="2943450"/>
            <a:ext cx="1367700" cy="377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BP_MyCharacterにAIControllerを設定する</a:t>
            </a:r>
            <a:endParaRPr b="1"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936" y="1847938"/>
            <a:ext cx="4445575" cy="14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/>
          <p:nvPr/>
        </p:nvSpPr>
        <p:spPr>
          <a:xfrm>
            <a:off x="5777875" y="2918113"/>
            <a:ext cx="1335300" cy="228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475" y="1376363"/>
            <a:ext cx="2990850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プレイヤーを追いかける機能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プレイヤーを追いかけるために使うものたち</a:t>
            </a:r>
            <a:endParaRPr b="1"/>
          </a:p>
        </p:txBody>
      </p:sp>
      <p:sp>
        <p:nvSpPr>
          <p:cNvPr id="179" name="Google Shape;179;p30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・AIがプレイヤーを検知する、視覚などの設定が可能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　└AIPerception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・プレイヤーをターゲットに設定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　└ブラックボード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・ターゲットまで移動する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　└ビヘイビアツリー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350" y="1303125"/>
            <a:ext cx="5851596" cy="20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ブラックボードに保存対象を追加</a:t>
            </a:r>
            <a:endParaRPr b="1"/>
          </a:p>
        </p:txBody>
      </p:sp>
      <p:pic>
        <p:nvPicPr>
          <p:cNvPr id="186" name="Google Shape;18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25" y="666738"/>
            <a:ext cx="25812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/>
          <p:nvPr/>
        </p:nvSpPr>
        <p:spPr>
          <a:xfrm>
            <a:off x="633698" y="2770225"/>
            <a:ext cx="1314900" cy="228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1"/>
          <p:cNvSpPr/>
          <p:nvPr/>
        </p:nvSpPr>
        <p:spPr>
          <a:xfrm>
            <a:off x="3233074" y="1583250"/>
            <a:ext cx="3950400" cy="228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1"/>
          <p:cNvSpPr/>
          <p:nvPr/>
        </p:nvSpPr>
        <p:spPr>
          <a:xfrm>
            <a:off x="3368025" y="2846450"/>
            <a:ext cx="3815400" cy="228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3005350" y="3883850"/>
            <a:ext cx="5774100" cy="75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AIが認識したプレイヤーを保存するための保存用キーを追加する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└オブジェクト「TargetActor」とする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191" name="Google Shape;191;p31"/>
          <p:cNvSpPr/>
          <p:nvPr/>
        </p:nvSpPr>
        <p:spPr>
          <a:xfrm>
            <a:off x="438124" y="1084875"/>
            <a:ext cx="934200" cy="57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BP_MyAiControllerにAIPerceptionを追加</a:t>
            </a:r>
            <a:endParaRPr b="1"/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325" y="1338263"/>
            <a:ext cx="39433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/>
          <p:nvPr/>
        </p:nvSpPr>
        <p:spPr>
          <a:xfrm>
            <a:off x="2831625" y="2689775"/>
            <a:ext cx="1740300" cy="228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040" y="985325"/>
            <a:ext cx="5575575" cy="31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AIPerceptionの設定</a:t>
            </a:r>
            <a:endParaRPr b="1"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384" y="1522125"/>
            <a:ext cx="2891375" cy="18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/>
          <p:nvPr/>
        </p:nvSpPr>
        <p:spPr>
          <a:xfrm>
            <a:off x="6433938" y="1210375"/>
            <a:ext cx="204300" cy="31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"/>
          <p:cNvSpPr/>
          <p:nvPr/>
        </p:nvSpPr>
        <p:spPr>
          <a:xfrm>
            <a:off x="5262812" y="1522125"/>
            <a:ext cx="2343300" cy="228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 txBox="1"/>
          <p:nvPr/>
        </p:nvSpPr>
        <p:spPr>
          <a:xfrm>
            <a:off x="256386" y="3469600"/>
            <a:ext cx="26844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AIに視覚用の設定を追加する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209" name="Google Shape;209;p33"/>
          <p:cNvSpPr/>
          <p:nvPr/>
        </p:nvSpPr>
        <p:spPr>
          <a:xfrm>
            <a:off x="4090655" y="3641500"/>
            <a:ext cx="1413900" cy="451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 txBox="1"/>
          <p:nvPr/>
        </p:nvSpPr>
        <p:spPr>
          <a:xfrm>
            <a:off x="5900250" y="3641500"/>
            <a:ext cx="2290200" cy="67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検知対象として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左記2つを指定しておく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BBのキーに保存する</a:t>
            </a:r>
            <a:endParaRPr b="1"/>
          </a:p>
        </p:txBody>
      </p:sp>
      <p:pic>
        <p:nvPicPr>
          <p:cNvPr id="216" name="Google Shape;2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350" y="572700"/>
            <a:ext cx="7031312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/>
          <p:cNvSpPr/>
          <p:nvPr/>
        </p:nvSpPr>
        <p:spPr>
          <a:xfrm>
            <a:off x="5134573" y="3260900"/>
            <a:ext cx="1990200" cy="20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4"/>
          <p:cNvSpPr/>
          <p:nvPr/>
        </p:nvSpPr>
        <p:spPr>
          <a:xfrm>
            <a:off x="1415749" y="2199250"/>
            <a:ext cx="1174500" cy="20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4"/>
          <p:cNvSpPr/>
          <p:nvPr/>
        </p:nvSpPr>
        <p:spPr>
          <a:xfrm>
            <a:off x="2372824" y="2917100"/>
            <a:ext cx="1174500" cy="20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BBのキーに保存する</a:t>
            </a:r>
            <a:endParaRPr b="1"/>
          </a:p>
        </p:txBody>
      </p:sp>
      <p:pic>
        <p:nvPicPr>
          <p:cNvPr id="225" name="Google Shape;2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38"/>
            <a:ext cx="8839202" cy="323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313" y="1542888"/>
            <a:ext cx="52578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888" y="572688"/>
            <a:ext cx="2997625" cy="40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ビヘイビアツリーの実装</a:t>
            </a:r>
            <a:endParaRPr b="1"/>
          </a:p>
        </p:txBody>
      </p:sp>
      <p:sp>
        <p:nvSpPr>
          <p:cNvPr id="233" name="Google Shape;233;p36"/>
          <p:cNvSpPr/>
          <p:nvPr/>
        </p:nvSpPr>
        <p:spPr>
          <a:xfrm>
            <a:off x="1017163" y="3666925"/>
            <a:ext cx="1631100" cy="86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6"/>
          <p:cNvSpPr/>
          <p:nvPr/>
        </p:nvSpPr>
        <p:spPr>
          <a:xfrm>
            <a:off x="3784663" y="2229900"/>
            <a:ext cx="3612300" cy="29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6"/>
          <p:cNvSpPr txBox="1"/>
          <p:nvPr/>
        </p:nvSpPr>
        <p:spPr>
          <a:xfrm>
            <a:off x="3552311" y="2805350"/>
            <a:ext cx="2412600" cy="86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MoveToの目的地として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TargetPlayerを使用する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SelectorとSequenceの解説</a:t>
            </a:r>
            <a:endParaRPr b="1"/>
          </a:p>
        </p:txBody>
      </p:sp>
      <p:sp>
        <p:nvSpPr>
          <p:cNvPr id="241" name="Google Shape;241;p37"/>
          <p:cNvSpPr/>
          <p:nvPr/>
        </p:nvSpPr>
        <p:spPr>
          <a:xfrm>
            <a:off x="1765225" y="849825"/>
            <a:ext cx="1239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Selector</a:t>
            </a:r>
            <a:endParaRPr/>
          </a:p>
        </p:txBody>
      </p:sp>
      <p:sp>
        <p:nvSpPr>
          <p:cNvPr id="242" name="Google Shape;242;p37"/>
          <p:cNvSpPr/>
          <p:nvPr/>
        </p:nvSpPr>
        <p:spPr>
          <a:xfrm>
            <a:off x="395225" y="2285394"/>
            <a:ext cx="1239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行動判定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False</a:t>
            </a:r>
            <a:endParaRPr/>
          </a:p>
        </p:txBody>
      </p:sp>
      <p:sp>
        <p:nvSpPr>
          <p:cNvPr id="243" name="Google Shape;243;p37"/>
          <p:cNvSpPr/>
          <p:nvPr/>
        </p:nvSpPr>
        <p:spPr>
          <a:xfrm>
            <a:off x="1765225" y="2285394"/>
            <a:ext cx="1239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行動判定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True</a:t>
            </a:r>
            <a:endParaRPr/>
          </a:p>
        </p:txBody>
      </p:sp>
      <p:sp>
        <p:nvSpPr>
          <p:cNvPr id="244" name="Google Shape;244;p37"/>
          <p:cNvSpPr/>
          <p:nvPr/>
        </p:nvSpPr>
        <p:spPr>
          <a:xfrm>
            <a:off x="3135225" y="2285394"/>
            <a:ext cx="1239600" cy="5727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行動判定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実行なし</a:t>
            </a:r>
            <a:endParaRPr/>
          </a:p>
        </p:txBody>
      </p:sp>
      <p:cxnSp>
        <p:nvCxnSpPr>
          <p:cNvPr id="245" name="Google Shape;245;p37"/>
          <p:cNvCxnSpPr>
            <a:stCxn id="241" idx="2"/>
            <a:endCxn id="242" idx="0"/>
          </p:cNvCxnSpPr>
          <p:nvPr/>
        </p:nvCxnSpPr>
        <p:spPr>
          <a:xfrm flipH="1">
            <a:off x="1014925" y="1422525"/>
            <a:ext cx="137010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37"/>
          <p:cNvCxnSpPr>
            <a:stCxn id="241" idx="2"/>
            <a:endCxn id="243" idx="0"/>
          </p:cNvCxnSpPr>
          <p:nvPr/>
        </p:nvCxnSpPr>
        <p:spPr>
          <a:xfrm>
            <a:off x="2385025" y="1422525"/>
            <a:ext cx="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7"/>
          <p:cNvCxnSpPr>
            <a:stCxn id="241" idx="2"/>
            <a:endCxn id="244" idx="0"/>
          </p:cNvCxnSpPr>
          <p:nvPr/>
        </p:nvCxnSpPr>
        <p:spPr>
          <a:xfrm>
            <a:off x="2385025" y="1422525"/>
            <a:ext cx="137010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48" name="Google Shape;248;p37"/>
          <p:cNvSpPr/>
          <p:nvPr/>
        </p:nvSpPr>
        <p:spPr>
          <a:xfrm>
            <a:off x="1765225" y="3720975"/>
            <a:ext cx="1239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行動する</a:t>
            </a:r>
            <a:endParaRPr/>
          </a:p>
        </p:txBody>
      </p:sp>
      <p:cxnSp>
        <p:nvCxnSpPr>
          <p:cNvPr id="249" name="Google Shape;249;p37"/>
          <p:cNvCxnSpPr/>
          <p:nvPr/>
        </p:nvCxnSpPr>
        <p:spPr>
          <a:xfrm>
            <a:off x="2385025" y="2858100"/>
            <a:ext cx="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37"/>
          <p:cNvSpPr/>
          <p:nvPr/>
        </p:nvSpPr>
        <p:spPr>
          <a:xfrm>
            <a:off x="395225" y="3720969"/>
            <a:ext cx="1239600" cy="5727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行動しない</a:t>
            </a:r>
            <a:endParaRPr/>
          </a:p>
        </p:txBody>
      </p:sp>
      <p:cxnSp>
        <p:nvCxnSpPr>
          <p:cNvPr id="251" name="Google Shape;251;p37"/>
          <p:cNvCxnSpPr/>
          <p:nvPr/>
        </p:nvCxnSpPr>
        <p:spPr>
          <a:xfrm>
            <a:off x="1015025" y="2858100"/>
            <a:ext cx="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52" name="Google Shape;252;p37"/>
          <p:cNvSpPr/>
          <p:nvPr/>
        </p:nvSpPr>
        <p:spPr>
          <a:xfrm>
            <a:off x="6139150" y="849825"/>
            <a:ext cx="1239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Sequence</a:t>
            </a:r>
            <a:endParaRPr/>
          </a:p>
        </p:txBody>
      </p:sp>
      <p:sp>
        <p:nvSpPr>
          <p:cNvPr id="253" name="Google Shape;253;p37"/>
          <p:cNvSpPr/>
          <p:nvPr/>
        </p:nvSpPr>
        <p:spPr>
          <a:xfrm>
            <a:off x="4769150" y="2285394"/>
            <a:ext cx="1239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行動判定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True</a:t>
            </a:r>
            <a:endParaRPr/>
          </a:p>
        </p:txBody>
      </p:sp>
      <p:sp>
        <p:nvSpPr>
          <p:cNvPr id="254" name="Google Shape;254;p37"/>
          <p:cNvSpPr/>
          <p:nvPr/>
        </p:nvSpPr>
        <p:spPr>
          <a:xfrm>
            <a:off x="6139150" y="2285394"/>
            <a:ext cx="1239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行動判定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Falese</a:t>
            </a:r>
            <a:endParaRPr/>
          </a:p>
        </p:txBody>
      </p:sp>
      <p:sp>
        <p:nvSpPr>
          <p:cNvPr id="255" name="Google Shape;255;p37"/>
          <p:cNvSpPr/>
          <p:nvPr/>
        </p:nvSpPr>
        <p:spPr>
          <a:xfrm>
            <a:off x="7509150" y="2285394"/>
            <a:ext cx="1239600" cy="5727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行動判定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実行なし</a:t>
            </a:r>
            <a:endParaRPr/>
          </a:p>
        </p:txBody>
      </p:sp>
      <p:cxnSp>
        <p:nvCxnSpPr>
          <p:cNvPr id="256" name="Google Shape;256;p37"/>
          <p:cNvCxnSpPr>
            <a:stCxn id="252" idx="2"/>
            <a:endCxn id="253" idx="0"/>
          </p:cNvCxnSpPr>
          <p:nvPr/>
        </p:nvCxnSpPr>
        <p:spPr>
          <a:xfrm flipH="1">
            <a:off x="5388850" y="1422525"/>
            <a:ext cx="137010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7"/>
          <p:cNvCxnSpPr>
            <a:stCxn id="252" idx="2"/>
            <a:endCxn id="254" idx="0"/>
          </p:cNvCxnSpPr>
          <p:nvPr/>
        </p:nvCxnSpPr>
        <p:spPr>
          <a:xfrm>
            <a:off x="6758950" y="1422525"/>
            <a:ext cx="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7"/>
          <p:cNvCxnSpPr>
            <a:stCxn id="252" idx="2"/>
            <a:endCxn id="255" idx="0"/>
          </p:cNvCxnSpPr>
          <p:nvPr/>
        </p:nvCxnSpPr>
        <p:spPr>
          <a:xfrm>
            <a:off x="6758950" y="1422525"/>
            <a:ext cx="137010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59" name="Google Shape;259;p37"/>
          <p:cNvSpPr/>
          <p:nvPr/>
        </p:nvSpPr>
        <p:spPr>
          <a:xfrm>
            <a:off x="4769150" y="3720975"/>
            <a:ext cx="1239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行動する</a:t>
            </a:r>
            <a:endParaRPr/>
          </a:p>
        </p:txBody>
      </p:sp>
      <p:cxnSp>
        <p:nvCxnSpPr>
          <p:cNvPr id="260" name="Google Shape;260;p37"/>
          <p:cNvCxnSpPr/>
          <p:nvPr/>
        </p:nvCxnSpPr>
        <p:spPr>
          <a:xfrm>
            <a:off x="5388950" y="2858175"/>
            <a:ext cx="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37"/>
          <p:cNvSpPr/>
          <p:nvPr/>
        </p:nvSpPr>
        <p:spPr>
          <a:xfrm>
            <a:off x="6139150" y="3721044"/>
            <a:ext cx="1239600" cy="5727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行動しない</a:t>
            </a:r>
            <a:endParaRPr/>
          </a:p>
        </p:txBody>
      </p:sp>
      <p:cxnSp>
        <p:nvCxnSpPr>
          <p:cNvPr id="262" name="Google Shape;262;p37"/>
          <p:cNvCxnSpPr/>
          <p:nvPr/>
        </p:nvCxnSpPr>
        <p:spPr>
          <a:xfrm>
            <a:off x="6758950" y="2858175"/>
            <a:ext cx="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63" name="Google Shape;263;p37"/>
          <p:cNvSpPr txBox="1"/>
          <p:nvPr/>
        </p:nvSpPr>
        <p:spPr>
          <a:xfrm>
            <a:off x="3680375" y="856050"/>
            <a:ext cx="1783200" cy="114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成功したら終了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→Selector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失敗したら終了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→Sequence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ステージ上にナビメッシュの追加</a:t>
            </a:r>
            <a:endParaRPr b="1"/>
          </a:p>
        </p:txBody>
      </p:sp>
      <p:pic>
        <p:nvPicPr>
          <p:cNvPr id="269" name="Google Shape;26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2700"/>
            <a:ext cx="8839199" cy="3433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725" y="3478938"/>
            <a:ext cx="4400550" cy="12858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1" name="Google Shape;271;p38"/>
          <p:cNvSpPr txBox="1"/>
          <p:nvPr/>
        </p:nvSpPr>
        <p:spPr>
          <a:xfrm>
            <a:off x="776575" y="3413025"/>
            <a:ext cx="2770800" cy="135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「アクタを配置」から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ナビメッシュを追加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位置と</a:t>
            </a:r>
            <a:r>
              <a:rPr b="1" lang="ja" sz="1500">
                <a:solidFill>
                  <a:srgbClr val="FFFF00"/>
                </a:solidFill>
              </a:rPr>
              <a:t>サイズを適当に調整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※Pキーで設定範囲の確認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277" name="Google Shape;2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625" y="642925"/>
            <a:ext cx="6562725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9"/>
          <p:cNvSpPr txBox="1"/>
          <p:nvPr/>
        </p:nvSpPr>
        <p:spPr>
          <a:xfrm>
            <a:off x="3121950" y="3431350"/>
            <a:ext cx="2900100" cy="86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追跡行動をするが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アニメーションが再生されない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BP_MyCharacterの設定変更</a:t>
            </a:r>
            <a:endParaRPr b="1"/>
          </a:p>
        </p:txBody>
      </p:sp>
      <p:pic>
        <p:nvPicPr>
          <p:cNvPr id="284" name="Google Shape;28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075" y="976313"/>
            <a:ext cx="41529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0"/>
          <p:cNvSpPr/>
          <p:nvPr/>
        </p:nvSpPr>
        <p:spPr>
          <a:xfrm>
            <a:off x="4656525" y="3772225"/>
            <a:ext cx="2294400" cy="309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025" y="1333488"/>
            <a:ext cx="3038475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カメラがキャラクターとぶつからないようにする</a:t>
            </a:r>
            <a:endParaRPr b="1"/>
          </a:p>
        </p:txBody>
      </p:sp>
      <p:pic>
        <p:nvPicPr>
          <p:cNvPr id="292" name="Google Shape;2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675" y="842950"/>
            <a:ext cx="5762625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/>
        </p:nvSpPr>
        <p:spPr>
          <a:xfrm>
            <a:off x="2342400" y="3729575"/>
            <a:ext cx="4459200" cy="86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カメラが後ろのキャラクターとぶつかってしまう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プロジェクト設定のコリジョンプリセットを修正</a:t>
            </a:r>
            <a:endParaRPr b="1"/>
          </a:p>
        </p:txBody>
      </p:sp>
      <p:pic>
        <p:nvPicPr>
          <p:cNvPr id="299" name="Google Shape;2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00" y="572700"/>
            <a:ext cx="8397803" cy="4265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2"/>
          <p:cNvSpPr/>
          <p:nvPr/>
        </p:nvSpPr>
        <p:spPr>
          <a:xfrm>
            <a:off x="477000" y="1188750"/>
            <a:ext cx="793500" cy="23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2"/>
          <p:cNvSpPr/>
          <p:nvPr/>
        </p:nvSpPr>
        <p:spPr>
          <a:xfrm>
            <a:off x="4657300" y="683550"/>
            <a:ext cx="1874100" cy="23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2"/>
          <p:cNvSpPr/>
          <p:nvPr/>
        </p:nvSpPr>
        <p:spPr>
          <a:xfrm>
            <a:off x="3634950" y="2797050"/>
            <a:ext cx="712500" cy="23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プロジェクト設定のコリジョンプリセットを修正</a:t>
            </a:r>
            <a:endParaRPr b="1"/>
          </a:p>
        </p:txBody>
      </p:sp>
      <p:pic>
        <p:nvPicPr>
          <p:cNvPr id="308" name="Google Shape;3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50" y="976313"/>
            <a:ext cx="360997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850" y="923925"/>
            <a:ext cx="3571875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3"/>
          <p:cNvSpPr/>
          <p:nvPr/>
        </p:nvSpPr>
        <p:spPr>
          <a:xfrm>
            <a:off x="723600" y="1329675"/>
            <a:ext cx="2285100" cy="23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3"/>
          <p:cNvSpPr/>
          <p:nvPr/>
        </p:nvSpPr>
        <p:spPr>
          <a:xfrm>
            <a:off x="4960696" y="1357034"/>
            <a:ext cx="2285100" cy="23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3"/>
          <p:cNvSpPr/>
          <p:nvPr/>
        </p:nvSpPr>
        <p:spPr>
          <a:xfrm>
            <a:off x="723600" y="3900750"/>
            <a:ext cx="2050200" cy="23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3"/>
          <p:cNvSpPr/>
          <p:nvPr/>
        </p:nvSpPr>
        <p:spPr>
          <a:xfrm>
            <a:off x="4974375" y="3900750"/>
            <a:ext cx="2050200" cy="23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3"/>
          <p:cNvSpPr txBox="1"/>
          <p:nvPr/>
        </p:nvSpPr>
        <p:spPr>
          <a:xfrm>
            <a:off x="3256050" y="2831225"/>
            <a:ext cx="2631900" cy="74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PawnとCharacterMeshの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カメラを「無視する」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巡回ルート探索の実装</a:t>
            </a:r>
            <a:endParaRPr b="1"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ビヘイビアツリーの主な3要素</a:t>
            </a:r>
            <a:endParaRPr b="1"/>
          </a:p>
        </p:txBody>
      </p:sp>
      <p:pic>
        <p:nvPicPr>
          <p:cNvPr id="325" name="Google Shape;3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300" y="1312000"/>
            <a:ext cx="4905375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5"/>
          <p:cNvSpPr/>
          <p:nvPr/>
        </p:nvSpPr>
        <p:spPr>
          <a:xfrm>
            <a:off x="2231245" y="1411688"/>
            <a:ext cx="4610700" cy="258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5"/>
          <p:cNvSpPr txBox="1"/>
          <p:nvPr/>
        </p:nvSpPr>
        <p:spPr>
          <a:xfrm>
            <a:off x="1892838" y="2713688"/>
            <a:ext cx="5358300" cy="111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・タスク→具体的な動作（歩く、攻撃）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・デコレーター→判定処理（タスクを実行するか、など）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・サービス→タスクやデコレーターに付随した処理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実装内容</a:t>
            </a:r>
            <a:endParaRPr b="1"/>
          </a:p>
        </p:txBody>
      </p:sp>
      <p:sp>
        <p:nvSpPr>
          <p:cNvPr id="333" name="Google Shape;333;p46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決められたポイントを巡回するAIを実装していきます。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BP_MyCharacterに巡回ルートを保存する</a:t>
            </a:r>
            <a:endParaRPr b="1"/>
          </a:p>
        </p:txBody>
      </p:sp>
      <p:pic>
        <p:nvPicPr>
          <p:cNvPr id="339" name="Google Shape;33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3613"/>
            <a:ext cx="8839200" cy="4031477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7"/>
          <p:cNvSpPr/>
          <p:nvPr/>
        </p:nvSpPr>
        <p:spPr>
          <a:xfrm>
            <a:off x="998975" y="1587450"/>
            <a:ext cx="1868700" cy="35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7"/>
          <p:cNvSpPr/>
          <p:nvPr/>
        </p:nvSpPr>
        <p:spPr>
          <a:xfrm>
            <a:off x="4950775" y="2771525"/>
            <a:ext cx="391500" cy="35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7"/>
          <p:cNvSpPr/>
          <p:nvPr/>
        </p:nvSpPr>
        <p:spPr>
          <a:xfrm>
            <a:off x="7052525" y="1820075"/>
            <a:ext cx="391500" cy="35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7"/>
          <p:cNvSpPr/>
          <p:nvPr/>
        </p:nvSpPr>
        <p:spPr>
          <a:xfrm>
            <a:off x="7651150" y="2700550"/>
            <a:ext cx="391500" cy="35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7"/>
          <p:cNvSpPr txBox="1"/>
          <p:nvPr/>
        </p:nvSpPr>
        <p:spPr>
          <a:xfrm>
            <a:off x="1312275" y="3908550"/>
            <a:ext cx="43881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ターゲットポイントをレベル上に適当に3個配置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BP_MyCharacterに巡回ルートを保存する</a:t>
            </a:r>
            <a:endParaRPr b="1"/>
          </a:p>
        </p:txBody>
      </p:sp>
      <p:pic>
        <p:nvPicPr>
          <p:cNvPr id="350" name="Google Shape;35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900" y="1054175"/>
            <a:ext cx="46482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8"/>
          <p:cNvSpPr/>
          <p:nvPr/>
        </p:nvSpPr>
        <p:spPr>
          <a:xfrm>
            <a:off x="3981997" y="2531751"/>
            <a:ext cx="1881300" cy="27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8"/>
          <p:cNvSpPr/>
          <p:nvPr/>
        </p:nvSpPr>
        <p:spPr>
          <a:xfrm>
            <a:off x="3981997" y="3162600"/>
            <a:ext cx="239400" cy="27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8"/>
          <p:cNvSpPr txBox="1"/>
          <p:nvPr/>
        </p:nvSpPr>
        <p:spPr>
          <a:xfrm>
            <a:off x="2673746" y="3652095"/>
            <a:ext cx="3796500" cy="6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変数「PatrolPoints」を上記のように準備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BP_MyCharacterに巡回ルートを保存する</a:t>
            </a:r>
            <a:endParaRPr b="1"/>
          </a:p>
        </p:txBody>
      </p:sp>
      <p:pic>
        <p:nvPicPr>
          <p:cNvPr id="359" name="Google Shape;3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37" y="572688"/>
            <a:ext cx="5228300" cy="218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1813" y="2625924"/>
            <a:ext cx="6424400" cy="18240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1" name="Google Shape;361;p49"/>
          <p:cNvSpPr/>
          <p:nvPr/>
        </p:nvSpPr>
        <p:spPr>
          <a:xfrm>
            <a:off x="1652937" y="1911661"/>
            <a:ext cx="1386900" cy="24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9"/>
          <p:cNvSpPr/>
          <p:nvPr/>
        </p:nvSpPr>
        <p:spPr>
          <a:xfrm>
            <a:off x="6549587" y="3015250"/>
            <a:ext cx="259800" cy="24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9"/>
          <p:cNvSpPr/>
          <p:nvPr/>
        </p:nvSpPr>
        <p:spPr>
          <a:xfrm>
            <a:off x="2415721" y="3015243"/>
            <a:ext cx="906000" cy="24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9"/>
          <p:cNvSpPr/>
          <p:nvPr/>
        </p:nvSpPr>
        <p:spPr>
          <a:xfrm>
            <a:off x="5033988" y="3307625"/>
            <a:ext cx="1611000" cy="1084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9"/>
          <p:cNvSpPr txBox="1"/>
          <p:nvPr/>
        </p:nvSpPr>
        <p:spPr>
          <a:xfrm>
            <a:off x="537788" y="3997400"/>
            <a:ext cx="3821400" cy="84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インスタンス編集可能</a:t>
            </a:r>
            <a:r>
              <a:rPr b="1" lang="ja" sz="1500">
                <a:solidFill>
                  <a:srgbClr val="FFFF00"/>
                </a:solidFill>
              </a:rPr>
              <a:t>なので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レベル上のターゲットポイント</a:t>
            </a:r>
            <a:r>
              <a:rPr b="1" lang="ja" sz="1500">
                <a:solidFill>
                  <a:srgbClr val="FFFF00"/>
                </a:solidFill>
              </a:rPr>
              <a:t>が</a:t>
            </a:r>
            <a:r>
              <a:rPr b="1" lang="ja" sz="1500">
                <a:solidFill>
                  <a:srgbClr val="FFFF00"/>
                </a:solidFill>
              </a:rPr>
              <a:t>設定</a:t>
            </a:r>
            <a:r>
              <a:rPr b="1" lang="ja" sz="1500">
                <a:solidFill>
                  <a:srgbClr val="FFFF00"/>
                </a:solidFill>
              </a:rPr>
              <a:t>可能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BP_MyCharacterに巡回ポイント探索処理を実装</a:t>
            </a:r>
            <a:endParaRPr b="1"/>
          </a:p>
        </p:txBody>
      </p:sp>
      <p:pic>
        <p:nvPicPr>
          <p:cNvPr id="371" name="Google Shape;37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763" y="1174600"/>
            <a:ext cx="45624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0"/>
          <p:cNvSpPr txBox="1"/>
          <p:nvPr/>
        </p:nvSpPr>
        <p:spPr>
          <a:xfrm>
            <a:off x="2998949" y="3532500"/>
            <a:ext cx="3146100" cy="6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変数「PointPatrolIndex」を追加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38" y="1303588"/>
            <a:ext cx="280035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BP_MyCharacterに巡回ポイント探索処理を実装</a:t>
            </a:r>
            <a:endParaRPr b="1"/>
          </a:p>
        </p:txBody>
      </p:sp>
      <p:pic>
        <p:nvPicPr>
          <p:cNvPr id="379" name="Google Shape;37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6375" y="794538"/>
            <a:ext cx="5001099" cy="234206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1"/>
          <p:cNvSpPr txBox="1"/>
          <p:nvPr/>
        </p:nvSpPr>
        <p:spPr>
          <a:xfrm>
            <a:off x="3625637" y="2748288"/>
            <a:ext cx="3146100" cy="6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「Add Return Node」して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アウトプット（戻り値）を設定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381" name="Google Shape;381;p51"/>
          <p:cNvSpPr/>
          <p:nvPr/>
        </p:nvSpPr>
        <p:spPr>
          <a:xfrm>
            <a:off x="2896438" y="1363713"/>
            <a:ext cx="240000" cy="24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1"/>
          <p:cNvSpPr/>
          <p:nvPr/>
        </p:nvSpPr>
        <p:spPr>
          <a:xfrm>
            <a:off x="688378" y="2318581"/>
            <a:ext cx="1719900" cy="24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3338" y="3548863"/>
            <a:ext cx="406717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実装内容</a:t>
            </a:r>
            <a:endParaRPr b="1"/>
          </a:p>
        </p:txBody>
      </p:sp>
      <p:pic>
        <p:nvPicPr>
          <p:cNvPr id="389" name="Google Shape;38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8238"/>
            <a:ext cx="8839200" cy="3587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300" y="1695063"/>
            <a:ext cx="52578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875" y="724863"/>
            <a:ext cx="2997625" cy="40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巡回ルート移動の実装</a:t>
            </a:r>
            <a:endParaRPr b="1"/>
          </a:p>
        </p:txBody>
      </p:sp>
      <p:sp>
        <p:nvSpPr>
          <p:cNvPr id="397" name="Google Shape;397;p53"/>
          <p:cNvSpPr/>
          <p:nvPr/>
        </p:nvSpPr>
        <p:spPr>
          <a:xfrm>
            <a:off x="1017150" y="3819100"/>
            <a:ext cx="1631100" cy="86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3"/>
          <p:cNvSpPr/>
          <p:nvPr/>
        </p:nvSpPr>
        <p:spPr>
          <a:xfrm>
            <a:off x="3784650" y="2382075"/>
            <a:ext cx="3612300" cy="29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3"/>
          <p:cNvSpPr txBox="1"/>
          <p:nvPr/>
        </p:nvSpPr>
        <p:spPr>
          <a:xfrm>
            <a:off x="3552312" y="3193888"/>
            <a:ext cx="3146100" cy="6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MoveToの「Blackboard Key」に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目的地を設定したい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38" y="1495425"/>
            <a:ext cx="17907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ブラックボードにキー追加</a:t>
            </a:r>
            <a:endParaRPr b="1"/>
          </a:p>
        </p:txBody>
      </p:sp>
      <p:sp>
        <p:nvSpPr>
          <p:cNvPr id="406" name="Google Shape;406;p54"/>
          <p:cNvSpPr/>
          <p:nvPr/>
        </p:nvSpPr>
        <p:spPr>
          <a:xfrm>
            <a:off x="806592" y="3317375"/>
            <a:ext cx="1197600" cy="24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3650" y="1177788"/>
            <a:ext cx="5540324" cy="278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MoveToに「PatrolPoint」を設定</a:t>
            </a:r>
            <a:endParaRPr b="1"/>
          </a:p>
        </p:txBody>
      </p:sp>
      <p:pic>
        <p:nvPicPr>
          <p:cNvPr id="413" name="Google Shape;41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550" y="1633538"/>
            <a:ext cx="25812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1725" y="2071688"/>
            <a:ext cx="445770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PatrolPointを取得するタスクを作成する</a:t>
            </a:r>
            <a:endParaRPr b="1"/>
          </a:p>
        </p:txBody>
      </p:sp>
      <p:pic>
        <p:nvPicPr>
          <p:cNvPr id="420" name="Google Shape;4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25" y="960663"/>
            <a:ext cx="3222150" cy="32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6"/>
          <p:cNvSpPr/>
          <p:nvPr/>
        </p:nvSpPr>
        <p:spPr>
          <a:xfrm>
            <a:off x="457647" y="1019266"/>
            <a:ext cx="651600" cy="1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2875" y="848525"/>
            <a:ext cx="5149299" cy="344644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6"/>
          <p:cNvSpPr/>
          <p:nvPr/>
        </p:nvSpPr>
        <p:spPr>
          <a:xfrm>
            <a:off x="4708396" y="2933217"/>
            <a:ext cx="789900" cy="1299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6"/>
          <p:cNvSpPr txBox="1"/>
          <p:nvPr/>
        </p:nvSpPr>
        <p:spPr>
          <a:xfrm>
            <a:off x="457650" y="3859980"/>
            <a:ext cx="3421500" cy="43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「BTT_GetNextPatrolPoint」とする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BTT_GetNextPatrolPointの実装</a:t>
            </a:r>
            <a:endParaRPr b="1"/>
          </a:p>
        </p:txBody>
      </p:sp>
      <p:pic>
        <p:nvPicPr>
          <p:cNvPr id="430" name="Google Shape;4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" y="572700"/>
            <a:ext cx="874395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7"/>
          <p:cNvSpPr/>
          <p:nvPr/>
        </p:nvSpPr>
        <p:spPr>
          <a:xfrm>
            <a:off x="1321278" y="3689975"/>
            <a:ext cx="1443000" cy="1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7"/>
          <p:cNvSpPr/>
          <p:nvPr/>
        </p:nvSpPr>
        <p:spPr>
          <a:xfrm>
            <a:off x="1060451" y="2222125"/>
            <a:ext cx="1192800" cy="239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75" y="1088950"/>
            <a:ext cx="8792626" cy="29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BTT_GetNextPatrolPointの実装</a:t>
            </a:r>
            <a:endParaRPr b="1"/>
          </a:p>
        </p:txBody>
      </p:sp>
      <p:sp>
        <p:nvSpPr>
          <p:cNvPr id="439" name="Google Shape;439;p58"/>
          <p:cNvSpPr/>
          <p:nvPr/>
        </p:nvSpPr>
        <p:spPr>
          <a:xfrm>
            <a:off x="7400098" y="1776287"/>
            <a:ext cx="1497300" cy="969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8"/>
          <p:cNvSpPr txBox="1"/>
          <p:nvPr/>
        </p:nvSpPr>
        <p:spPr>
          <a:xfrm>
            <a:off x="5813250" y="2907825"/>
            <a:ext cx="30624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最後は「Finished Execute」で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SuccessをTrueにしておく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ビヘイビアツリーの実装</a:t>
            </a:r>
            <a:endParaRPr b="1"/>
          </a:p>
        </p:txBody>
      </p:sp>
      <p:pic>
        <p:nvPicPr>
          <p:cNvPr id="446" name="Google Shape;44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25" y="1280609"/>
            <a:ext cx="3322775" cy="19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0750" y="837200"/>
            <a:ext cx="5215925" cy="279262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9"/>
          <p:cNvSpPr/>
          <p:nvPr/>
        </p:nvSpPr>
        <p:spPr>
          <a:xfrm>
            <a:off x="1180050" y="2144900"/>
            <a:ext cx="1638600" cy="642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9"/>
          <p:cNvSpPr/>
          <p:nvPr/>
        </p:nvSpPr>
        <p:spPr>
          <a:xfrm>
            <a:off x="7335000" y="3134625"/>
            <a:ext cx="594600" cy="17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9"/>
          <p:cNvSpPr txBox="1"/>
          <p:nvPr/>
        </p:nvSpPr>
        <p:spPr>
          <a:xfrm>
            <a:off x="1180050" y="3186400"/>
            <a:ext cx="4834800" cy="111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右クリック「BTT_GetNextPatrolPoint」を呼び出す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その上で右クリックしデコレーターを追加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「Cooldown」を呼び出す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ビヘイビアツリーの実装</a:t>
            </a:r>
            <a:endParaRPr b="1"/>
          </a:p>
        </p:txBody>
      </p:sp>
      <p:pic>
        <p:nvPicPr>
          <p:cNvPr id="456" name="Google Shape;45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113" y="572700"/>
            <a:ext cx="6953786" cy="426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0"/>
          <p:cNvSpPr/>
          <p:nvPr/>
        </p:nvSpPr>
        <p:spPr>
          <a:xfrm>
            <a:off x="4616300" y="2265625"/>
            <a:ext cx="1279800" cy="81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0"/>
          <p:cNvSpPr/>
          <p:nvPr/>
        </p:nvSpPr>
        <p:spPr>
          <a:xfrm>
            <a:off x="1843550" y="3614175"/>
            <a:ext cx="3476100" cy="116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60"/>
          <p:cNvSpPr txBox="1"/>
          <p:nvPr/>
        </p:nvSpPr>
        <p:spPr>
          <a:xfrm>
            <a:off x="300025" y="1341925"/>
            <a:ext cx="3682200" cy="173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Sequenceを使用することで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最初の処理が成功（True）すると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次の処理へ進む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Cooldownは一度実行されると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設定秒分の間隔を空けられる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465" name="Google Shape;46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088" y="748850"/>
            <a:ext cx="6981825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1"/>
          <p:cNvSpPr txBox="1"/>
          <p:nvPr/>
        </p:nvSpPr>
        <p:spPr>
          <a:xfrm>
            <a:off x="2532900" y="2994825"/>
            <a:ext cx="4078200" cy="14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ターゲットポイントに向けて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順番に行動すればOK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ビヘイビアツリーのCooldownのありなしで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挙動がどう変わるか見てみましょう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2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応用編</a:t>
            </a:r>
            <a:endParaRPr b="1"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実装内容</a:t>
            </a:r>
            <a:endParaRPr b="1"/>
          </a:p>
        </p:txBody>
      </p:sp>
      <p:sp>
        <p:nvSpPr>
          <p:cNvPr id="477" name="Google Shape;477;p63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プレイヤーの索敵も組み合わせ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プレイヤーを探す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→見つからなければパトロール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→見つかればプレイヤー追いかける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を実装してみます。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ブラックボードにフラグを追加</a:t>
            </a:r>
            <a:endParaRPr b="1"/>
          </a:p>
        </p:txBody>
      </p:sp>
      <p:pic>
        <p:nvPicPr>
          <p:cNvPr id="483" name="Google Shape;48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763" y="1114425"/>
            <a:ext cx="2924175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4"/>
          <p:cNvSpPr/>
          <p:nvPr/>
        </p:nvSpPr>
        <p:spPr>
          <a:xfrm>
            <a:off x="1788513" y="3545400"/>
            <a:ext cx="1263300" cy="261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4"/>
          <p:cNvSpPr txBox="1"/>
          <p:nvPr/>
        </p:nvSpPr>
        <p:spPr>
          <a:xfrm>
            <a:off x="4378538" y="2285400"/>
            <a:ext cx="32037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発見したかどうかフラグを追加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BP_MyAiControllerでフラグ更新</a:t>
            </a:r>
            <a:endParaRPr b="1"/>
          </a:p>
        </p:txBody>
      </p:sp>
      <p:pic>
        <p:nvPicPr>
          <p:cNvPr id="491" name="Google Shape;49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5700"/>
            <a:ext cx="8839199" cy="4010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BP_MyAiControllerでフラグ更新</a:t>
            </a:r>
            <a:endParaRPr b="1"/>
          </a:p>
        </p:txBody>
      </p:sp>
      <p:pic>
        <p:nvPicPr>
          <p:cNvPr id="497" name="Google Shape;49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9875"/>
            <a:ext cx="8839199" cy="3966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BP_MyAiControllerでフラグ更新</a:t>
            </a:r>
            <a:endParaRPr b="1"/>
          </a:p>
        </p:txBody>
      </p:sp>
      <p:pic>
        <p:nvPicPr>
          <p:cNvPr id="503" name="Google Shape;50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1650"/>
            <a:ext cx="8839199" cy="3774723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7"/>
          <p:cNvSpPr/>
          <p:nvPr/>
        </p:nvSpPr>
        <p:spPr>
          <a:xfrm>
            <a:off x="2558928" y="836396"/>
            <a:ext cx="1154400" cy="648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7"/>
          <p:cNvSpPr txBox="1"/>
          <p:nvPr/>
        </p:nvSpPr>
        <p:spPr>
          <a:xfrm>
            <a:off x="1890450" y="4105625"/>
            <a:ext cx="2879700" cy="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発見した時プレイヤーをセット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未発見でプレイヤーを削除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プレイヤー発見状態か確認するデコレーター</a:t>
            </a:r>
            <a:endParaRPr b="1"/>
          </a:p>
        </p:txBody>
      </p:sp>
      <p:pic>
        <p:nvPicPr>
          <p:cNvPr id="511" name="Google Shape;51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025" y="572700"/>
            <a:ext cx="5954080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8"/>
          <p:cNvSpPr/>
          <p:nvPr/>
        </p:nvSpPr>
        <p:spPr>
          <a:xfrm>
            <a:off x="3803685" y="1341314"/>
            <a:ext cx="1602300" cy="21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8"/>
          <p:cNvSpPr txBox="1"/>
          <p:nvPr/>
        </p:nvSpPr>
        <p:spPr>
          <a:xfrm>
            <a:off x="1138888" y="2238450"/>
            <a:ext cx="3500100" cy="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「BTD_CheckUndiscovered」とする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プレイヤー発見状態か確認するデコレーター</a:t>
            </a:r>
            <a:endParaRPr b="1"/>
          </a:p>
        </p:txBody>
      </p:sp>
      <p:pic>
        <p:nvPicPr>
          <p:cNvPr id="519" name="Google Shape;51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2900"/>
            <a:ext cx="8839200" cy="405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9"/>
          <p:cNvSpPr/>
          <p:nvPr/>
        </p:nvSpPr>
        <p:spPr>
          <a:xfrm>
            <a:off x="1252575" y="2094407"/>
            <a:ext cx="1133700" cy="21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9"/>
          <p:cNvSpPr/>
          <p:nvPr/>
        </p:nvSpPr>
        <p:spPr>
          <a:xfrm>
            <a:off x="1510650" y="3221475"/>
            <a:ext cx="1908900" cy="21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プレイヤー発見状態か確認するデコレーター</a:t>
            </a:r>
            <a:endParaRPr b="1"/>
          </a:p>
        </p:txBody>
      </p:sp>
      <p:pic>
        <p:nvPicPr>
          <p:cNvPr id="527" name="Google Shape;52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7625"/>
            <a:ext cx="8839200" cy="292289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70"/>
          <p:cNvSpPr/>
          <p:nvPr/>
        </p:nvSpPr>
        <p:spPr>
          <a:xfrm>
            <a:off x="6106825" y="2753525"/>
            <a:ext cx="1434600" cy="57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0"/>
          <p:cNvSpPr txBox="1"/>
          <p:nvPr/>
        </p:nvSpPr>
        <p:spPr>
          <a:xfrm>
            <a:off x="3454825" y="3663000"/>
            <a:ext cx="4086600" cy="8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発見するとFalse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未発見でTrueを返すようにしています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→未発見状態の時に、パトロールさせるため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ビヘイビアツリー実装</a:t>
            </a:r>
            <a:endParaRPr b="1"/>
          </a:p>
        </p:txBody>
      </p:sp>
      <p:pic>
        <p:nvPicPr>
          <p:cNvPr id="535" name="Google Shape;53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663" y="572700"/>
            <a:ext cx="7188665" cy="426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71"/>
          <p:cNvSpPr/>
          <p:nvPr/>
        </p:nvSpPr>
        <p:spPr>
          <a:xfrm>
            <a:off x="3399650" y="2690525"/>
            <a:ext cx="1769700" cy="907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71"/>
          <p:cNvSpPr txBox="1"/>
          <p:nvPr/>
        </p:nvSpPr>
        <p:spPr>
          <a:xfrm>
            <a:off x="1176675" y="990000"/>
            <a:ext cx="3875100" cy="114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未発見状態で「パトロール」する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発見すると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BTD_CheckUndiscoveredがFalseとなり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MoveTo（TargetActor）に移行する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追跡を確認する際の隠れ場所を適当に作成</a:t>
            </a:r>
            <a:endParaRPr b="1"/>
          </a:p>
        </p:txBody>
      </p:sp>
      <p:pic>
        <p:nvPicPr>
          <p:cNvPr id="543" name="Google Shape;54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350" y="572700"/>
            <a:ext cx="6581308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549" name="Google Shape;5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575" y="572700"/>
            <a:ext cx="3256926" cy="426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725" y="572700"/>
            <a:ext cx="3336700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73"/>
          <p:cNvSpPr txBox="1"/>
          <p:nvPr/>
        </p:nvSpPr>
        <p:spPr>
          <a:xfrm>
            <a:off x="3104100" y="3550025"/>
            <a:ext cx="2935800" cy="114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未発見→パトロール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発見→追跡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再度未発見→パトロールに戻る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となっていればOK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